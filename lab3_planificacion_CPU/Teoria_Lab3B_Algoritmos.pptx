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con la reunión de la gerencia de NovaTech: quieren decidir qué algoritmo usar para el batch processing nocturno. Necesitan datos, no teoría. El estudiante va a producir esa evidencia en la simulación.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Enfatizar que esta es la teoría ANTES de la simulación: el estudiante debe poder dibujar el timeline de cada algoritmo en papel.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Motivar: tu gerente no quería teoría. Necesita una TABLA con números y una recomendación. Eso es lo que producen los datos de la simulación.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Definir con las fórmulas exactas: Wait = Inicio - Llegada; Turn = Fin - Llegada. Son las que usa el script.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 el Gantt con la clase: P2 llega en t=1 pero espera hasta t=8 → espera 7. Explicar tabla espera/retorno línea por línea.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Analogía del camión lento en la carretera. Preguntar: ¿cómo arreglarías esto? → Ese 'arreglo' es SJF.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crítico del lab: la función sjf() del script base es copia de fcfs() y está MAL. Aquí está la lógica correcta: en cada decisión filtrar 'llegados' y elegir menor ráfaga. Dibujar ambos timelines lado a lado.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kernel estima la ráfaga (ej: τ(n+1) = α·t_n + (1-α)·τ_n, promedio exponencial). Discutir por qué esto convierte a 'SJF puro' en una aproximación.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SRTF aparece solo en el cuestionario (pregunta 4). No hay que implementarlo, pero sí explicarlo: preempción + más switches.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Seguir el turno: cada 3 unidades la CPU rota a la siguiente cola. La cola se recorre cíclicamente. Calcular wait de P2: termina en 16, llegó en 1 → retorno 15; espera = 15 - ráfaga 4 =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Trade-off central de RR. Con q-&gt;inf, cada proceso termina antes de ser interrumpido = orden de llegada = FCFS. Con q muy pequeño, muere por el costo del context switch.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números son los esperados de la simulación corregida. Si el estudiante obtiene otros, la sjf() no está bien corregida. Es el punto de 'verificación a mano' del lab.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ciclo con la Parte A: ahí se veía NI/PRI/CFS en vivo; aquí se simulan los modelos teóricos. Los dos mundos se complementan para responder 'cuál conviene'.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Aclarar: hay que verificar a mano (dibujar timelines) ANTES de confiar en el código. El informe para la gerencia se evalúa por fundamentación, no por redacción.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965960"/>
            <a:ext cx="2194560" cy="1016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10424160" cy="2377440"/>
          </a:xfrm>
          <a:prstGeom prst="rect">
            <a:avLst/>
          </a:prstGeom>
          <a:noFill/>
        </p:spPr>
        <p:txBody>
          <a:bodyPr wrap="square">
            <a:spAutoFit/>
          </a:bodyPr>
          <a:lstStyle/>
          <a:p>
            <a:r>
              <a:rPr sz="4000" b="1">
                <a:solidFill>
                  <a:srgbClr val="FFFFFF"/>
                </a:solidFill>
              </a:rPr>
              <a:t>Laboratorio 3B: Simulación de Algoritmos de Planificación</a:t>
            </a:r>
          </a:p>
          <a:p>
            <a:pPr>
              <a:spcBef>
                <a:spcPts val="1000"/>
              </a:spcBef>
            </a:pPr>
            <a:r>
              <a:rPr sz="2000">
                <a:solidFill>
                  <a:srgbClr val="ECF3F9"/>
                </a:solidFill>
              </a:rPr>
              <a:t>Teoría previa · FCFS, SJF, Round Robin y métricas de comparación</a:t>
            </a:r>
          </a:p>
        </p:txBody>
      </p:sp>
      <p:sp>
        <p:nvSpPr>
          <p:cNvPr id="6" name="TextBox 5"/>
          <p:cNvSpPr txBox="1"/>
          <p:nvPr/>
        </p:nvSpPr>
        <p:spPr>
          <a:xfrm>
            <a:off x="822960" y="4709160"/>
            <a:ext cx="10424160" cy="1097280"/>
          </a:xfrm>
          <a:prstGeom prst="rect">
            <a:avLst/>
          </a:prstGeom>
          <a:noFill/>
        </p:spPr>
        <p:txBody>
          <a:bodyPr wrap="square">
            <a:spAutoFit/>
          </a:bodyPr>
          <a:lstStyle/>
          <a:p>
            <a:r>
              <a:rPr sz="1400">
                <a:solidFill>
                  <a:srgbClr val="ECF3F9"/>
                </a:solidFill>
              </a:rPr>
              <a:t>Sistemas Operativos (0689) · Grupo 1SF134 · Isacio Manuel Tamayo Rodríguez</a:t>
            </a:r>
          </a:p>
          <a:p>
            <a:r>
              <a:rPr sz="1200">
                <a:solidFill>
                  <a:srgbClr val="8A8A8A"/>
                </a:solidFill>
              </a:rPr>
              <a:t>Antes de correr Python, domina los algoritmos que vas a simular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Agenda</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2</a:t>
            </a:r>
          </a:p>
        </p:txBody>
      </p:sp>
      <p:sp>
        <p:nvSpPr>
          <p:cNvPr id="6" name="TextBox 5"/>
          <p:cNvSpPr txBox="1"/>
          <p:nvPr/>
        </p:nvSpPr>
        <p:spPr>
          <a:xfrm>
            <a:off x="822960" y="1463040"/>
            <a:ext cx="10515600" cy="493776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¿Qué es un algoritmo de planificación?</a:t>
            </a:r>
          </a:p>
          <a:p>
            <a:pPr marL="228600" indent="-228600">
              <a:lnSpc>
                <a:spcPct val="115000"/>
              </a:lnSpc>
              <a:spcAft>
                <a:spcPts val="800"/>
              </a:spcAft>
            </a:pPr>
            <a:r>
              <a:rPr sz="1800" b="0">
                <a:solidFill>
                  <a:srgbClr val="333333"/>
                </a:solidFill>
              </a:rPr>
              <a:t>▪  Métricas: tiempo de espera y tiempo de retorno</a:t>
            </a:r>
          </a:p>
          <a:p>
            <a:pPr marL="228600" indent="-228600">
              <a:lnSpc>
                <a:spcPct val="115000"/>
              </a:lnSpc>
              <a:spcAft>
                <a:spcPts val="800"/>
              </a:spcAft>
            </a:pPr>
            <a:r>
              <a:rPr sz="1800" b="0">
                <a:solidFill>
                  <a:srgbClr val="333333"/>
                </a:solidFill>
              </a:rPr>
              <a:t>▪  FCFS — First Come First Served (+ convoy effect)</a:t>
            </a:r>
          </a:p>
          <a:p>
            <a:pPr marL="228600" indent="-228600">
              <a:lnSpc>
                <a:spcPct val="115000"/>
              </a:lnSpc>
              <a:spcAft>
                <a:spcPts val="800"/>
              </a:spcAft>
            </a:pPr>
            <a:r>
              <a:rPr sz="1800" b="0">
                <a:solidFill>
                  <a:srgbClr val="333333"/>
                </a:solidFill>
              </a:rPr>
              <a:t>▪  SJF — Shortest Job First (no preemptivo)</a:t>
            </a:r>
          </a:p>
          <a:p>
            <a:pPr marL="228600" indent="-228600">
              <a:lnSpc>
                <a:spcPct val="115000"/>
              </a:lnSpc>
              <a:spcAft>
                <a:spcPts val="800"/>
              </a:spcAft>
            </a:pPr>
            <a:r>
              <a:rPr sz="1800" b="0">
                <a:solidFill>
                  <a:srgbClr val="333333"/>
                </a:solidFill>
              </a:rPr>
              <a:t>▪  SRTF: la variante preemptiva de SJF</a:t>
            </a:r>
          </a:p>
          <a:p>
            <a:pPr marL="228600" indent="-228600">
              <a:lnSpc>
                <a:spcPct val="115000"/>
              </a:lnSpc>
              <a:spcAft>
                <a:spcPts val="800"/>
              </a:spcAft>
            </a:pPr>
            <a:r>
              <a:rPr sz="1800" b="0">
                <a:solidFill>
                  <a:srgbClr val="333333"/>
                </a:solidFill>
              </a:rPr>
              <a:t>▪  Round Robin y el quantum</a:t>
            </a:r>
          </a:p>
          <a:p>
            <a:pPr marL="228600" indent="-228600">
              <a:lnSpc>
                <a:spcPct val="115000"/>
              </a:lnSpc>
              <a:spcAft>
                <a:spcPts val="800"/>
              </a:spcAft>
            </a:pPr>
            <a:r>
              <a:rPr sz="1800" b="0">
                <a:solidFill>
                  <a:srgbClr val="333333"/>
                </a:solidFill>
              </a:rPr>
              <a:t>▪  Quantum pequeño vs grande: overhead y comportamiento</a:t>
            </a:r>
          </a:p>
          <a:p>
            <a:pPr marL="228600" indent="-228600">
              <a:lnSpc>
                <a:spcPct val="115000"/>
              </a:lnSpc>
              <a:spcAft>
                <a:spcPts val="800"/>
              </a:spcAft>
            </a:pPr>
            <a:r>
              <a:rPr sz="1800" b="0">
                <a:solidFill>
                  <a:srgbClr val="333333"/>
                </a:solidFill>
              </a:rPr>
              <a:t>▪  CFS de Linux vs los algoritmos 'de libro'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¿Qué es un algoritmo de planificación?</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3</a:t>
            </a:r>
          </a:p>
        </p:txBody>
      </p:sp>
      <p:sp>
        <p:nvSpPr>
          <p:cNvPr id="6" name="Rounded Rectangle 5"/>
          <p:cNvSpPr/>
          <p:nvPr/>
        </p:nvSpPr>
        <p:spPr>
          <a:xfrm>
            <a:off x="822960" y="1554480"/>
            <a:ext cx="5120640" cy="283464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Regla para elegir</a:t>
            </a:r>
          </a:p>
          <a:p>
            <a:pPr>
              <a:spcBef>
                <a:spcPts val="400"/>
              </a:spcBef>
            </a:pPr>
            <a:r>
              <a:rPr sz="1350">
                <a:solidFill>
                  <a:srgbClr val="333333"/>
                </a:solidFill>
              </a:rPr>
              <a:t>Es el criterio que usa el planificador para decidir, entre los procesos de la cola de listos, cuál corre a continuación. Cada algoritmo optimiza métricas distintas.</a:t>
            </a:r>
          </a:p>
        </p:txBody>
      </p:sp>
      <p:sp>
        <p:nvSpPr>
          <p:cNvPr id="7" name="Rounded Rectangle 6"/>
          <p:cNvSpPr/>
          <p:nvPr/>
        </p:nvSpPr>
        <p:spPr>
          <a:xfrm>
            <a:off x="6217920" y="1554480"/>
            <a:ext cx="5120640" cy="283464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El planificador de Linux no es 'de libro'</a:t>
            </a:r>
          </a:p>
          <a:p>
            <a:pPr>
              <a:spcBef>
                <a:spcPts val="400"/>
              </a:spcBef>
            </a:pPr>
            <a:r>
              <a:rPr sz="1350">
                <a:solidFill>
                  <a:srgbClr val="333333"/>
                </a:solidFill>
              </a:rPr>
              <a:t>CFS no implementa exactamente FCFS/SJF/RR: mezcla ideas (equidad, vruntime). Por eso no podemos 'probar' los algoritmos clásicos en el kernel real y los SIMULAMOS con Python.</a:t>
            </a:r>
          </a:p>
        </p:txBody>
      </p:sp>
      <p:sp>
        <p:nvSpPr>
          <p:cNvPr id="8" name="Rounded Rectangle 7"/>
          <p:cNvSpPr/>
          <p:nvPr/>
        </p:nvSpPr>
        <p:spPr>
          <a:xfrm>
            <a:off x="822960" y="4572000"/>
            <a:ext cx="10515600" cy="155448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Qué vas a hacer</a:t>
            </a:r>
          </a:p>
          <a:p>
            <a:pPr>
              <a:spcBef>
                <a:spcPts val="400"/>
              </a:spcBef>
            </a:pPr>
            <a:r>
              <a:rPr sz="1350">
                <a:solidFill>
                  <a:srgbClr val="333333"/>
                </a:solidFill>
              </a:rPr>
              <a:t>Simular FCFS, SJF y Round Robin sobre una carga de 4 procesos, medir espera/retorno y decidir cuál conviene para un sistema batch.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Métricas clave</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4</a:t>
            </a:r>
          </a:p>
        </p:txBody>
      </p:sp>
      <p:sp>
        <p:nvSpPr>
          <p:cNvPr id="6" name="Rounded Rectangle 5"/>
          <p:cNvSpPr/>
          <p:nvPr/>
        </p:nvSpPr>
        <p:spPr>
          <a:xfrm>
            <a:off x="822960" y="1554480"/>
            <a:ext cx="5120640" cy="31089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Tiempo de espera (Waiting)</a:t>
            </a:r>
          </a:p>
          <a:p>
            <a:pPr>
              <a:spcBef>
                <a:spcPts val="400"/>
              </a:spcBef>
            </a:pPr>
            <a:r>
              <a:rPr sz="1350">
                <a:solidFill>
                  <a:srgbClr val="333333"/>
                </a:solidFill>
              </a:rPr>
              <a:t>Suma del tiempo que el proceso pasa en la cola de listos SIN ejecutarse (no cuenta la ráfaga).</a:t>
            </a:r>
            <a:br/>
            <a:br/>
            <a:r>
              <a:rPr sz="1350" b="1">
                <a:solidFill>
                  <a:srgbClr val="1F3A5F"/>
                </a:solidFill>
              </a:rPr>
              <a:t>Wait = Inicio - Llegada</a:t>
            </a:r>
          </a:p>
        </p:txBody>
      </p:sp>
      <p:sp>
        <p:nvSpPr>
          <p:cNvPr id="7" name="Rounded Rectangle 6"/>
          <p:cNvSpPr/>
          <p:nvPr/>
        </p:nvSpPr>
        <p:spPr>
          <a:xfrm>
            <a:off x="6217920" y="1554480"/>
            <a:ext cx="5120640" cy="31089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Tiempo de retorno (Turnaround)</a:t>
            </a:r>
          </a:p>
          <a:p>
            <a:pPr>
              <a:spcBef>
                <a:spcPts val="400"/>
              </a:spcBef>
            </a:pPr>
            <a:r>
              <a:rPr sz="1350">
                <a:solidFill>
                  <a:srgbClr val="333333"/>
                </a:solidFill>
              </a:rPr>
              <a:t>Tiempo completo desde que entra hasta que termina (espera + ejecución).</a:t>
            </a:r>
            <a:br/>
            <a:br/>
            <a:r>
              <a:rPr sz="1350" b="1">
                <a:solidFill>
                  <a:srgbClr val="1F3A5F"/>
                </a:solidFill>
              </a:rPr>
              <a:t>Turn = Fin - Llegada</a:t>
            </a:r>
          </a:p>
        </p:txBody>
      </p:sp>
      <p:sp>
        <p:nvSpPr>
          <p:cNvPr id="8" name="TextBox 7"/>
          <p:cNvSpPr txBox="1"/>
          <p:nvPr/>
        </p:nvSpPr>
        <p:spPr>
          <a:xfrm>
            <a:off x="822960" y="4846320"/>
            <a:ext cx="10515600" cy="1554480"/>
          </a:xfrm>
          <a:prstGeom prst="rect">
            <a:avLst/>
          </a:prstGeom>
          <a:noFill/>
        </p:spPr>
        <p:txBody>
          <a:bodyPr wrap="square">
            <a:spAutoFit/>
          </a:bodyPr>
          <a:lstStyle/>
          <a:p>
            <a:pPr marL="228600" indent="-228600">
              <a:lnSpc>
                <a:spcPct val="115000"/>
              </a:lnSpc>
              <a:spcAft>
                <a:spcPts val="800"/>
              </a:spcAft>
            </a:pPr>
            <a:r>
              <a:rPr sz="1800" b="1">
                <a:solidFill>
                  <a:srgbClr val="333333"/>
                </a:solidFill>
              </a:rPr>
              <a:t>▪  Para comparar algoritmos usamos el PROMEDIO de espera y retorno de todos los procesos.</a:t>
            </a:r>
          </a:p>
          <a:p>
            <a:pPr marL="228600" indent="-228600">
              <a:lnSpc>
                <a:spcPct val="115000"/>
              </a:lnSpc>
              <a:spcAft>
                <a:spcPts val="800"/>
              </a:spcAft>
            </a:pPr>
            <a:r>
              <a:rPr sz="1800" b="0">
                <a:solidFill>
                  <a:srgbClr val="333333"/>
                </a:solidFill>
              </a:rPr>
              <a:t>▪  Menor promedio de espera → procesos 'atendidos' más rápido en general.</a:t>
            </a:r>
          </a:p>
          <a:p>
            <a:pPr marL="228600" indent="-228600">
              <a:lnSpc>
                <a:spcPct val="115000"/>
              </a:lnSpc>
              <a:spcAft>
                <a:spcPts val="800"/>
              </a:spcAft>
            </a:pPr>
            <a:r>
              <a:rPr sz="1800" b="0">
                <a:solidFill>
                  <a:srgbClr val="333333"/>
                </a:solidFill>
              </a:rPr>
              <a:t>▪  Menor promedio de retorno → el sistema completa sus trabajos antes.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FCFS — First Come, First Served</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5</a:t>
            </a:r>
          </a:p>
        </p:txBody>
      </p:sp>
      <p:sp>
        <p:nvSpPr>
          <p:cNvPr id="6" name="TextBox 5"/>
          <p:cNvSpPr txBox="1"/>
          <p:nvPr/>
        </p:nvSpPr>
        <p:spPr>
          <a:xfrm>
            <a:off x="822960" y="1463040"/>
            <a:ext cx="10515600" cy="173736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El proceso que llega primero se ejecuta primero; nadie es interrumpido (NO preemptivo).</a:t>
            </a:r>
          </a:p>
          <a:p>
            <a:pPr marL="228600" indent="-228600">
              <a:lnSpc>
                <a:spcPct val="115000"/>
              </a:lnSpc>
              <a:spcAft>
                <a:spcPts val="800"/>
              </a:spcAft>
            </a:pPr>
            <a:r>
              <a:rPr sz="1800" b="0">
                <a:solidFill>
                  <a:srgbClr val="333333"/>
                </a:solidFill>
              </a:rPr>
              <a:t>▪  Implementación trivial: una cola FIFO. Equitativo en orden, pero...</a:t>
            </a:r>
          </a:p>
          <a:p>
            <a:pPr marL="228600" indent="-228600">
              <a:lnSpc>
                <a:spcPct val="115000"/>
              </a:lnSpc>
              <a:spcAft>
                <a:spcPts val="800"/>
              </a:spcAft>
            </a:pPr>
            <a:r>
              <a:rPr sz="1800" b="0">
                <a:solidFill>
                  <a:srgbClr val="1F3A5F"/>
                </a:solidFill>
              </a:rPr>
              <a:t>▪  Ejemplo con el WORKLOAD del laboratorio (P1..P4):</a:t>
            </a:r>
          </a:p>
        </p:txBody>
      </p:sp>
      <p:sp>
        <p:nvSpPr>
          <p:cNvPr id="7" name="TextBox 6"/>
          <p:cNvSpPr txBox="1"/>
          <p:nvPr/>
        </p:nvSpPr>
        <p:spPr>
          <a:xfrm>
            <a:off x="137160" y="3300000"/>
            <a:ext cx="1051560" cy="280000"/>
          </a:xfrm>
          <a:prstGeom prst="rect">
            <a:avLst/>
          </a:prstGeom>
          <a:noFill/>
        </p:spPr>
        <p:txBody>
          <a:bodyPr wrap="none">
            <a:spAutoFit/>
          </a:bodyPr>
          <a:lstStyle/>
          <a:p>
            <a:pPr algn="r"/>
            <a:r>
              <a:rPr sz="1500" b="1">
                <a:solidFill>
                  <a:srgbClr val="1F3A5F"/>
                </a:solidFill>
              </a:rPr>
              <a:t>P1</a:t>
            </a:r>
          </a:p>
        </p:txBody>
      </p:sp>
      <p:sp>
        <p:nvSpPr>
          <p:cNvPr id="8" name="Rectangle 7"/>
          <p:cNvSpPr/>
          <p:nvPr/>
        </p:nvSpPr>
        <p:spPr>
          <a:xfrm>
            <a:off x="1554480" y="3300000"/>
            <a:ext cx="2785403" cy="28000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8</a:t>
            </a:r>
          </a:p>
        </p:txBody>
      </p:sp>
      <p:sp>
        <p:nvSpPr>
          <p:cNvPr id="9" name="TextBox 8"/>
          <p:cNvSpPr txBox="1"/>
          <p:nvPr/>
        </p:nvSpPr>
        <p:spPr>
          <a:xfrm>
            <a:off x="137160" y="3620000"/>
            <a:ext cx="1051560" cy="280000"/>
          </a:xfrm>
          <a:prstGeom prst="rect">
            <a:avLst/>
          </a:prstGeom>
          <a:noFill/>
        </p:spPr>
        <p:txBody>
          <a:bodyPr wrap="none">
            <a:spAutoFit/>
          </a:bodyPr>
          <a:lstStyle/>
          <a:p>
            <a:pPr algn="r"/>
            <a:r>
              <a:rPr sz="1500" b="1">
                <a:solidFill>
                  <a:srgbClr val="1F3A5F"/>
                </a:solidFill>
              </a:rPr>
              <a:t>P2</a:t>
            </a:r>
          </a:p>
        </p:txBody>
      </p:sp>
      <p:sp>
        <p:nvSpPr>
          <p:cNvPr id="10" name="Rectangle 9"/>
          <p:cNvSpPr/>
          <p:nvPr/>
        </p:nvSpPr>
        <p:spPr>
          <a:xfrm>
            <a:off x="4339883" y="3620000"/>
            <a:ext cx="1392701" cy="280000"/>
          </a:xfrm>
          <a:prstGeom prst="rect">
            <a:avLst/>
          </a:prstGeom>
          <a:solidFill>
            <a:srgbClr val="F0931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11" name="TextBox 10"/>
          <p:cNvSpPr txBox="1"/>
          <p:nvPr/>
        </p:nvSpPr>
        <p:spPr>
          <a:xfrm>
            <a:off x="137160" y="3940000"/>
            <a:ext cx="1051560" cy="280000"/>
          </a:xfrm>
          <a:prstGeom prst="rect">
            <a:avLst/>
          </a:prstGeom>
          <a:noFill/>
        </p:spPr>
        <p:txBody>
          <a:bodyPr wrap="none">
            <a:spAutoFit/>
          </a:bodyPr>
          <a:lstStyle/>
          <a:p>
            <a:pPr algn="r"/>
            <a:r>
              <a:rPr sz="1500" b="1">
                <a:solidFill>
                  <a:srgbClr val="1F3A5F"/>
                </a:solidFill>
              </a:rPr>
              <a:t>P3</a:t>
            </a:r>
          </a:p>
        </p:txBody>
      </p:sp>
      <p:sp>
        <p:nvSpPr>
          <p:cNvPr id="12" name="Rectangle 11"/>
          <p:cNvSpPr/>
          <p:nvPr/>
        </p:nvSpPr>
        <p:spPr>
          <a:xfrm>
            <a:off x="5732584" y="3940000"/>
            <a:ext cx="3133578" cy="280000"/>
          </a:xfrm>
          <a:prstGeom prst="rect">
            <a:avLst/>
          </a:prstGeom>
          <a:solidFill>
            <a:srgbClr val="5B9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9</a:t>
            </a:r>
          </a:p>
        </p:txBody>
      </p:sp>
      <p:sp>
        <p:nvSpPr>
          <p:cNvPr id="13" name="TextBox 12"/>
          <p:cNvSpPr txBox="1"/>
          <p:nvPr/>
        </p:nvSpPr>
        <p:spPr>
          <a:xfrm>
            <a:off x="137160" y="4260000"/>
            <a:ext cx="1051560" cy="280000"/>
          </a:xfrm>
          <a:prstGeom prst="rect">
            <a:avLst/>
          </a:prstGeom>
          <a:noFill/>
        </p:spPr>
        <p:txBody>
          <a:bodyPr wrap="none">
            <a:spAutoFit/>
          </a:bodyPr>
          <a:lstStyle/>
          <a:p>
            <a:pPr algn="r"/>
            <a:r>
              <a:rPr sz="1500" b="1">
                <a:solidFill>
                  <a:srgbClr val="1F3A5F"/>
                </a:solidFill>
              </a:rPr>
              <a:t>P4</a:t>
            </a:r>
          </a:p>
        </p:txBody>
      </p:sp>
      <p:sp>
        <p:nvSpPr>
          <p:cNvPr id="14" name="Rectangle 13"/>
          <p:cNvSpPr/>
          <p:nvPr/>
        </p:nvSpPr>
        <p:spPr>
          <a:xfrm>
            <a:off x="8866163" y="4260000"/>
            <a:ext cx="1740876" cy="280000"/>
          </a:xfrm>
          <a:prstGeom prst="rect">
            <a:avLst/>
          </a:prstGeom>
          <a:solidFill>
            <a:srgbClr val="9B59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15" name="TextBox 14"/>
          <p:cNvSpPr txBox="1"/>
          <p:nvPr/>
        </p:nvSpPr>
        <p:spPr>
          <a:xfrm>
            <a:off x="3021036" y="4630000"/>
            <a:ext cx="548640" cy="274320"/>
          </a:xfrm>
          <a:prstGeom prst="rect">
            <a:avLst/>
          </a:prstGeom>
          <a:noFill/>
        </p:spPr>
        <p:txBody>
          <a:bodyPr wrap="none">
            <a:spAutoFit/>
          </a:bodyPr>
          <a:lstStyle/>
          <a:p>
            <a:pPr algn="ctr"/>
            <a:r>
              <a:rPr sz="1200">
                <a:solidFill>
                  <a:srgbClr val="8A8A8A"/>
                </a:solidFill>
              </a:rPr>
              <a:t>5</a:t>
            </a:r>
          </a:p>
        </p:txBody>
      </p:sp>
      <p:sp>
        <p:nvSpPr>
          <p:cNvPr id="16" name="TextBox 15"/>
          <p:cNvSpPr txBox="1"/>
          <p:nvPr/>
        </p:nvSpPr>
        <p:spPr>
          <a:xfrm>
            <a:off x="4761913" y="4630000"/>
            <a:ext cx="548640" cy="274320"/>
          </a:xfrm>
          <a:prstGeom prst="rect">
            <a:avLst/>
          </a:prstGeom>
          <a:noFill/>
        </p:spPr>
        <p:txBody>
          <a:bodyPr wrap="none">
            <a:spAutoFit/>
          </a:bodyPr>
          <a:lstStyle/>
          <a:p>
            <a:pPr algn="ctr"/>
            <a:r>
              <a:rPr sz="1200">
                <a:solidFill>
                  <a:srgbClr val="8A8A8A"/>
                </a:solidFill>
              </a:rPr>
              <a:t>10</a:t>
            </a:r>
          </a:p>
        </p:txBody>
      </p:sp>
      <p:sp>
        <p:nvSpPr>
          <p:cNvPr id="17" name="TextBox 16"/>
          <p:cNvSpPr txBox="1"/>
          <p:nvPr/>
        </p:nvSpPr>
        <p:spPr>
          <a:xfrm>
            <a:off x="6502790" y="4630000"/>
            <a:ext cx="548640" cy="274320"/>
          </a:xfrm>
          <a:prstGeom prst="rect">
            <a:avLst/>
          </a:prstGeom>
          <a:noFill/>
        </p:spPr>
        <p:txBody>
          <a:bodyPr wrap="none">
            <a:spAutoFit/>
          </a:bodyPr>
          <a:lstStyle/>
          <a:p>
            <a:pPr algn="ctr"/>
            <a:r>
              <a:rPr sz="1200">
                <a:solidFill>
                  <a:srgbClr val="8A8A8A"/>
                </a:solidFill>
              </a:rPr>
              <a:t>15</a:t>
            </a:r>
          </a:p>
        </p:txBody>
      </p:sp>
      <p:sp>
        <p:nvSpPr>
          <p:cNvPr id="18" name="TextBox 17"/>
          <p:cNvSpPr txBox="1"/>
          <p:nvPr/>
        </p:nvSpPr>
        <p:spPr>
          <a:xfrm>
            <a:off x="8243667" y="4630000"/>
            <a:ext cx="548640" cy="274320"/>
          </a:xfrm>
          <a:prstGeom prst="rect">
            <a:avLst/>
          </a:prstGeom>
          <a:noFill/>
        </p:spPr>
        <p:txBody>
          <a:bodyPr wrap="none">
            <a:spAutoFit/>
          </a:bodyPr>
          <a:lstStyle/>
          <a:p>
            <a:pPr algn="ctr"/>
            <a:r>
              <a:rPr sz="1200">
                <a:solidFill>
                  <a:srgbClr val="8A8A8A"/>
                </a:solidFill>
              </a:rPr>
              <a:t>20</a:t>
            </a:r>
          </a:p>
        </p:txBody>
      </p:sp>
      <p:sp>
        <p:nvSpPr>
          <p:cNvPr id="19" name="TextBox 18"/>
          <p:cNvSpPr txBox="1"/>
          <p:nvPr/>
        </p:nvSpPr>
        <p:spPr>
          <a:xfrm>
            <a:off x="9984544" y="4630000"/>
            <a:ext cx="548640" cy="274320"/>
          </a:xfrm>
          <a:prstGeom prst="rect">
            <a:avLst/>
          </a:prstGeom>
          <a:noFill/>
        </p:spPr>
        <p:txBody>
          <a:bodyPr wrap="none">
            <a:spAutoFit/>
          </a:bodyPr>
          <a:lstStyle/>
          <a:p>
            <a:pPr algn="ctr"/>
            <a:r>
              <a:rPr sz="1200">
                <a:solidFill>
                  <a:srgbClr val="8A8A8A"/>
                </a:solidFill>
              </a:rPr>
              <a:t>25</a:t>
            </a:r>
          </a:p>
        </p:txBody>
      </p:sp>
      <p:sp>
        <p:nvSpPr>
          <p:cNvPr id="20" name="Rounded Rectangle 19"/>
          <p:cNvSpPr/>
          <p:nvPr/>
        </p:nvSpPr>
        <p:spPr>
          <a:xfrm>
            <a:off x="822960" y="5029200"/>
            <a:ext cx="10515600" cy="137160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Resultado</a:t>
            </a:r>
          </a:p>
          <a:p>
            <a:pPr>
              <a:spcBef>
                <a:spcPts val="400"/>
              </a:spcBef>
            </a:pPr>
            <a:r>
              <a:rPr sz="1350">
                <a:solidFill>
                  <a:srgbClr val="333333"/>
                </a:solidFill>
              </a:rPr>
              <a:t>Espera: P1=0, P2=7, P3=10, P4=18 → promedio 8.75   ·   Retorno: P1=8, P2=11, P3=19, P4=23 → promedio 15.25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FCFS — Convoy Effect</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6</a:t>
            </a:r>
          </a:p>
        </p:txBody>
      </p:sp>
      <p:sp>
        <p:nvSpPr>
          <p:cNvPr id="6" name="TextBox 5"/>
          <p:cNvSpPr txBox="1"/>
          <p:nvPr/>
        </p:nvSpPr>
        <p:spPr>
          <a:xfrm>
            <a:off x="822960" y="1554480"/>
            <a:ext cx="10515600" cy="2743200"/>
          </a:xfrm>
          <a:prstGeom prst="rect">
            <a:avLst/>
          </a:prstGeom>
          <a:noFill/>
        </p:spPr>
        <p:txBody>
          <a:bodyPr wrap="square">
            <a:spAutoFit/>
          </a:bodyPr>
          <a:lstStyle/>
          <a:p>
            <a:pPr marL="228600" indent="-228600">
              <a:lnSpc>
                <a:spcPct val="115000"/>
              </a:lnSpc>
              <a:spcAft>
                <a:spcPts val="800"/>
              </a:spcAft>
            </a:pPr>
            <a:r>
              <a:rPr sz="1900" b="0">
                <a:solidFill>
                  <a:srgbClr val="333333"/>
                </a:solidFill>
              </a:rPr>
              <a:t>▪  Imagina: un proceso LARGO (100 s) llega primero, y luego 5 procesos cortos (1 s c/u).</a:t>
            </a:r>
          </a:p>
          <a:p>
            <a:pPr marL="228600" indent="-228600">
              <a:lnSpc>
                <a:spcPct val="115000"/>
              </a:lnSpc>
              <a:spcAft>
                <a:spcPts val="800"/>
              </a:spcAft>
            </a:pPr>
            <a:r>
              <a:rPr sz="1900" b="0">
                <a:solidFill>
                  <a:srgbClr val="333333"/>
                </a:solidFill>
              </a:rPr>
              <a:t>▪  FCFS ejecutaría primero el largo → los cortos esperan hasta 100 s antes de tocar CPU.</a:t>
            </a:r>
          </a:p>
          <a:p>
            <a:pPr marL="228600" indent="-228600">
              <a:lnSpc>
                <a:spcPct val="115000"/>
              </a:lnSpc>
              <a:spcAft>
                <a:spcPts val="800"/>
              </a:spcAft>
            </a:pPr>
            <a:r>
              <a:rPr sz="1900" b="1">
                <a:solidFill>
                  <a:srgbClr val="C0392B"/>
                </a:solidFill>
              </a:rPr>
              <a:t>▪  Parece un 'convoy' en carretera: un camión lento bloquea a todos los autos rápidos detrás.</a:t>
            </a:r>
          </a:p>
          <a:p>
            <a:pPr marL="228600" indent="-228600">
              <a:lnSpc>
                <a:spcPct val="115000"/>
              </a:lnSpc>
              <a:spcAft>
                <a:spcPts val="800"/>
              </a:spcAft>
            </a:pPr>
            <a:r>
              <a:rPr sz="1900" b="0">
                <a:solidFill>
                  <a:srgbClr val="333333"/>
                </a:solidFill>
              </a:rPr>
              <a:t>▪  Efecto: aumento dramático del tiempo de espera promedio para trabajos cortos.</a:t>
            </a:r>
          </a:p>
          <a:p>
            <a:pPr marL="228600" indent="-228600">
              <a:lnSpc>
                <a:spcPct val="115000"/>
              </a:lnSpc>
              <a:spcAft>
                <a:spcPts val="800"/>
              </a:spcAft>
            </a:pPr>
            <a:r>
              <a:rPr sz="1900" b="0">
                <a:solidFill>
                  <a:srgbClr val="333333"/>
                </a:solidFill>
              </a:rPr>
              <a:t>▪  Concluye: FCFS es simple pero muy sensible al orden de llegada de trabajos largos.</a:t>
            </a:r>
          </a:p>
        </p:txBody>
      </p:sp>
      <p:sp>
        <p:nvSpPr>
          <p:cNvPr id="7" name="Rounded Rectangle 6"/>
          <p:cNvSpPr/>
          <p:nvPr/>
        </p:nvSpPr>
        <p:spPr>
          <a:xfrm>
            <a:off x="822960" y="4754880"/>
            <a:ext cx="10515600" cy="137160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¿Lo verás en la simulación?</a:t>
            </a:r>
          </a:p>
          <a:p>
            <a:pPr>
              <a:spcBef>
                <a:spcPts val="400"/>
              </a:spcBef>
            </a:pPr>
            <a:r>
              <a:rPr sz="1350">
                <a:solidFill>
                  <a:srgbClr val="333333"/>
                </a:solidFill>
              </a:rPr>
              <a:t>El WORKLOAD de NovaTech (8, 4, 9, 5) exhibe un mini-convoy: P1 (8 s) atrasa a todos los que llegan después.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SJF — Shortest Job First (no preemptivo)</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7</a:t>
            </a:r>
          </a:p>
        </p:txBody>
      </p:sp>
      <p:sp>
        <p:nvSpPr>
          <p:cNvPr id="6" name="TextBox 5"/>
          <p:cNvSpPr txBox="1"/>
          <p:nvPr/>
        </p:nvSpPr>
        <p:spPr>
          <a:xfrm>
            <a:off x="822960" y="1463040"/>
            <a:ext cx="10515600" cy="155448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En cada decisión, ejecuta el proceso de MENOR ráfaga entre los que YA llegaron.</a:t>
            </a:r>
          </a:p>
          <a:p>
            <a:pPr marL="228600" indent="-228600">
              <a:lnSpc>
                <a:spcPct val="115000"/>
              </a:lnSpc>
              <a:spcAft>
                <a:spcPts val="800"/>
              </a:spcAft>
            </a:pPr>
            <a:r>
              <a:rPr sz="1800" b="0">
                <a:solidFill>
                  <a:srgbClr val="333333"/>
                </a:solidFill>
              </a:rPr>
              <a:t>▪  No preemptivo: una vez iniciado, el proceso corre hasta terminar.</a:t>
            </a:r>
          </a:p>
          <a:p>
            <a:pPr marL="228600" indent="-228600">
              <a:lnSpc>
                <a:spcPct val="115000"/>
              </a:lnSpc>
              <a:spcAft>
                <a:spcPts val="800"/>
              </a:spcAft>
            </a:pPr>
            <a:r>
              <a:rPr sz="1800" b="0">
                <a:solidFill>
                  <a:srgbClr val="1F3A5F"/>
                </a:solidFill>
              </a:rPr>
              <a:t>▪  Ejemplo: en t=0 solo P1 (8) ha llegado → corre P1; luego el más corto de los restantes.</a:t>
            </a:r>
          </a:p>
        </p:txBody>
      </p:sp>
      <p:sp>
        <p:nvSpPr>
          <p:cNvPr id="7" name="TextBox 6"/>
          <p:cNvSpPr txBox="1"/>
          <p:nvPr/>
        </p:nvSpPr>
        <p:spPr>
          <a:xfrm>
            <a:off x="137160" y="3300000"/>
            <a:ext cx="1051560" cy="280000"/>
          </a:xfrm>
          <a:prstGeom prst="rect">
            <a:avLst/>
          </a:prstGeom>
          <a:noFill/>
        </p:spPr>
        <p:txBody>
          <a:bodyPr wrap="none">
            <a:spAutoFit/>
          </a:bodyPr>
          <a:lstStyle/>
          <a:p>
            <a:pPr algn="r"/>
            <a:r>
              <a:rPr sz="1500" b="1">
                <a:solidFill>
                  <a:srgbClr val="1F3A5F"/>
                </a:solidFill>
              </a:rPr>
              <a:t>P1</a:t>
            </a:r>
          </a:p>
        </p:txBody>
      </p:sp>
      <p:sp>
        <p:nvSpPr>
          <p:cNvPr id="8" name="Rectangle 7"/>
          <p:cNvSpPr/>
          <p:nvPr/>
        </p:nvSpPr>
        <p:spPr>
          <a:xfrm>
            <a:off x="1554480" y="3300000"/>
            <a:ext cx="2785403" cy="28000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8</a:t>
            </a:r>
          </a:p>
        </p:txBody>
      </p:sp>
      <p:sp>
        <p:nvSpPr>
          <p:cNvPr id="9" name="TextBox 8"/>
          <p:cNvSpPr txBox="1"/>
          <p:nvPr/>
        </p:nvSpPr>
        <p:spPr>
          <a:xfrm>
            <a:off x="137160" y="3620000"/>
            <a:ext cx="1051560" cy="280000"/>
          </a:xfrm>
          <a:prstGeom prst="rect">
            <a:avLst/>
          </a:prstGeom>
          <a:noFill/>
        </p:spPr>
        <p:txBody>
          <a:bodyPr wrap="none">
            <a:spAutoFit/>
          </a:bodyPr>
          <a:lstStyle/>
          <a:p>
            <a:pPr algn="r"/>
            <a:r>
              <a:rPr sz="1500" b="1">
                <a:solidFill>
                  <a:srgbClr val="1F3A5F"/>
                </a:solidFill>
              </a:rPr>
              <a:t>P2</a:t>
            </a:r>
          </a:p>
        </p:txBody>
      </p:sp>
      <p:sp>
        <p:nvSpPr>
          <p:cNvPr id="10" name="Rectangle 9"/>
          <p:cNvSpPr/>
          <p:nvPr/>
        </p:nvSpPr>
        <p:spPr>
          <a:xfrm>
            <a:off x="4339883" y="3620000"/>
            <a:ext cx="1392701" cy="280000"/>
          </a:xfrm>
          <a:prstGeom prst="rect">
            <a:avLst/>
          </a:prstGeom>
          <a:solidFill>
            <a:srgbClr val="F0931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11" name="TextBox 10"/>
          <p:cNvSpPr txBox="1"/>
          <p:nvPr/>
        </p:nvSpPr>
        <p:spPr>
          <a:xfrm>
            <a:off x="137160" y="3940000"/>
            <a:ext cx="1051560" cy="280000"/>
          </a:xfrm>
          <a:prstGeom prst="rect">
            <a:avLst/>
          </a:prstGeom>
          <a:noFill/>
        </p:spPr>
        <p:txBody>
          <a:bodyPr wrap="none">
            <a:spAutoFit/>
          </a:bodyPr>
          <a:lstStyle/>
          <a:p>
            <a:pPr algn="r"/>
            <a:r>
              <a:rPr sz="1500" b="1">
                <a:solidFill>
                  <a:srgbClr val="1F3A5F"/>
                </a:solidFill>
              </a:rPr>
              <a:t>P4</a:t>
            </a:r>
          </a:p>
        </p:txBody>
      </p:sp>
      <p:sp>
        <p:nvSpPr>
          <p:cNvPr id="12" name="Rectangle 11"/>
          <p:cNvSpPr/>
          <p:nvPr/>
        </p:nvSpPr>
        <p:spPr>
          <a:xfrm>
            <a:off x="5732584" y="3940000"/>
            <a:ext cx="1740876" cy="280000"/>
          </a:xfrm>
          <a:prstGeom prst="rect">
            <a:avLst/>
          </a:prstGeom>
          <a:solidFill>
            <a:srgbClr val="9B59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13" name="TextBox 12"/>
          <p:cNvSpPr txBox="1"/>
          <p:nvPr/>
        </p:nvSpPr>
        <p:spPr>
          <a:xfrm>
            <a:off x="137160" y="4260000"/>
            <a:ext cx="1051560" cy="280000"/>
          </a:xfrm>
          <a:prstGeom prst="rect">
            <a:avLst/>
          </a:prstGeom>
          <a:noFill/>
        </p:spPr>
        <p:txBody>
          <a:bodyPr wrap="none">
            <a:spAutoFit/>
          </a:bodyPr>
          <a:lstStyle/>
          <a:p>
            <a:pPr algn="r"/>
            <a:r>
              <a:rPr sz="1500" b="1">
                <a:solidFill>
                  <a:srgbClr val="1F3A5F"/>
                </a:solidFill>
              </a:rPr>
              <a:t>P3</a:t>
            </a:r>
          </a:p>
        </p:txBody>
      </p:sp>
      <p:sp>
        <p:nvSpPr>
          <p:cNvPr id="14" name="Rectangle 13"/>
          <p:cNvSpPr/>
          <p:nvPr/>
        </p:nvSpPr>
        <p:spPr>
          <a:xfrm>
            <a:off x="7473461" y="4260000"/>
            <a:ext cx="3133578" cy="280000"/>
          </a:xfrm>
          <a:prstGeom prst="rect">
            <a:avLst/>
          </a:prstGeom>
          <a:solidFill>
            <a:srgbClr val="5B9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9</a:t>
            </a:r>
          </a:p>
        </p:txBody>
      </p:sp>
      <p:sp>
        <p:nvSpPr>
          <p:cNvPr id="15" name="TextBox 14"/>
          <p:cNvSpPr txBox="1"/>
          <p:nvPr/>
        </p:nvSpPr>
        <p:spPr>
          <a:xfrm>
            <a:off x="3021036" y="4630000"/>
            <a:ext cx="548640" cy="274320"/>
          </a:xfrm>
          <a:prstGeom prst="rect">
            <a:avLst/>
          </a:prstGeom>
          <a:noFill/>
        </p:spPr>
        <p:txBody>
          <a:bodyPr wrap="none">
            <a:spAutoFit/>
          </a:bodyPr>
          <a:lstStyle/>
          <a:p>
            <a:pPr algn="ctr"/>
            <a:r>
              <a:rPr sz="1200">
                <a:solidFill>
                  <a:srgbClr val="8A8A8A"/>
                </a:solidFill>
              </a:rPr>
              <a:t>5</a:t>
            </a:r>
          </a:p>
        </p:txBody>
      </p:sp>
      <p:sp>
        <p:nvSpPr>
          <p:cNvPr id="16" name="TextBox 15"/>
          <p:cNvSpPr txBox="1"/>
          <p:nvPr/>
        </p:nvSpPr>
        <p:spPr>
          <a:xfrm>
            <a:off x="4761913" y="4630000"/>
            <a:ext cx="548640" cy="274320"/>
          </a:xfrm>
          <a:prstGeom prst="rect">
            <a:avLst/>
          </a:prstGeom>
          <a:noFill/>
        </p:spPr>
        <p:txBody>
          <a:bodyPr wrap="none">
            <a:spAutoFit/>
          </a:bodyPr>
          <a:lstStyle/>
          <a:p>
            <a:pPr algn="ctr"/>
            <a:r>
              <a:rPr sz="1200">
                <a:solidFill>
                  <a:srgbClr val="8A8A8A"/>
                </a:solidFill>
              </a:rPr>
              <a:t>10</a:t>
            </a:r>
          </a:p>
        </p:txBody>
      </p:sp>
      <p:sp>
        <p:nvSpPr>
          <p:cNvPr id="17" name="TextBox 16"/>
          <p:cNvSpPr txBox="1"/>
          <p:nvPr/>
        </p:nvSpPr>
        <p:spPr>
          <a:xfrm>
            <a:off x="6502790" y="4630000"/>
            <a:ext cx="548640" cy="274320"/>
          </a:xfrm>
          <a:prstGeom prst="rect">
            <a:avLst/>
          </a:prstGeom>
          <a:noFill/>
        </p:spPr>
        <p:txBody>
          <a:bodyPr wrap="none">
            <a:spAutoFit/>
          </a:bodyPr>
          <a:lstStyle/>
          <a:p>
            <a:pPr algn="ctr"/>
            <a:r>
              <a:rPr sz="1200">
                <a:solidFill>
                  <a:srgbClr val="8A8A8A"/>
                </a:solidFill>
              </a:rPr>
              <a:t>15</a:t>
            </a:r>
          </a:p>
        </p:txBody>
      </p:sp>
      <p:sp>
        <p:nvSpPr>
          <p:cNvPr id="18" name="TextBox 17"/>
          <p:cNvSpPr txBox="1"/>
          <p:nvPr/>
        </p:nvSpPr>
        <p:spPr>
          <a:xfrm>
            <a:off x="8243667" y="4630000"/>
            <a:ext cx="548640" cy="274320"/>
          </a:xfrm>
          <a:prstGeom prst="rect">
            <a:avLst/>
          </a:prstGeom>
          <a:noFill/>
        </p:spPr>
        <p:txBody>
          <a:bodyPr wrap="none">
            <a:spAutoFit/>
          </a:bodyPr>
          <a:lstStyle/>
          <a:p>
            <a:pPr algn="ctr"/>
            <a:r>
              <a:rPr sz="1200">
                <a:solidFill>
                  <a:srgbClr val="8A8A8A"/>
                </a:solidFill>
              </a:rPr>
              <a:t>20</a:t>
            </a:r>
          </a:p>
        </p:txBody>
      </p:sp>
      <p:sp>
        <p:nvSpPr>
          <p:cNvPr id="19" name="TextBox 18"/>
          <p:cNvSpPr txBox="1"/>
          <p:nvPr/>
        </p:nvSpPr>
        <p:spPr>
          <a:xfrm>
            <a:off x="9984544" y="4630000"/>
            <a:ext cx="548640" cy="274320"/>
          </a:xfrm>
          <a:prstGeom prst="rect">
            <a:avLst/>
          </a:prstGeom>
          <a:noFill/>
        </p:spPr>
        <p:txBody>
          <a:bodyPr wrap="none">
            <a:spAutoFit/>
          </a:bodyPr>
          <a:lstStyle/>
          <a:p>
            <a:pPr algn="ctr"/>
            <a:r>
              <a:rPr sz="1200">
                <a:solidFill>
                  <a:srgbClr val="8A8A8A"/>
                </a:solidFill>
              </a:rPr>
              <a:t>25</a:t>
            </a:r>
          </a:p>
        </p:txBody>
      </p:sp>
      <p:sp>
        <p:nvSpPr>
          <p:cNvPr id="20" name="Rounded Rectangle 19"/>
          <p:cNvSpPr/>
          <p:nvPr/>
        </p:nvSpPr>
        <p:spPr>
          <a:xfrm>
            <a:off x="822960" y="5029200"/>
            <a:ext cx="10515600" cy="137160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Resultado</a:t>
            </a:r>
          </a:p>
          <a:p>
            <a:pPr>
              <a:spcBef>
                <a:spcPts val="400"/>
              </a:spcBef>
            </a:pPr>
            <a:r>
              <a:rPr sz="1350">
                <a:solidFill>
                  <a:srgbClr val="333333"/>
                </a:solidFill>
              </a:rPr>
              <a:t>Espera: P1=0, P2=7, P4=9, P3=15 → promedio 7.75 (¡mejor que FCFS!)   ·   Retorno: P1=8, P2=11, P4=14, P3=24 → promedio 14.25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SJF — El problema de la predicción</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8</a:t>
            </a:r>
          </a:p>
        </p:txBody>
      </p:sp>
      <p:sp>
        <p:nvSpPr>
          <p:cNvPr id="6" name="TextBox 5"/>
          <p:cNvSpPr txBox="1"/>
          <p:nvPr/>
        </p:nvSpPr>
        <p:spPr>
          <a:xfrm>
            <a:off x="822960" y="1554480"/>
            <a:ext cx="10515600" cy="201168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Ventaja: minimiza el tiempo de espera promedio (óptimo teórico para no preemptivo).</a:t>
            </a:r>
          </a:p>
          <a:p>
            <a:pPr marL="228600" indent="-228600">
              <a:lnSpc>
                <a:spcPct val="115000"/>
              </a:lnSpc>
              <a:spcAft>
                <a:spcPts val="800"/>
              </a:spcAft>
            </a:pPr>
            <a:r>
              <a:rPr sz="1800" b="0">
                <a:solidFill>
                  <a:srgbClr val="333333"/>
                </a:solidFill>
              </a:rPr>
              <a:t>▪  Desventaja: riesgo de hambruna (starvation) para procesos largos — si llega una cola interminable de procesos cortos, los largos podrían esperar indefinidamente.</a:t>
            </a:r>
          </a:p>
          <a:p>
            <a:pPr marL="228600" indent="-228600">
              <a:lnSpc>
                <a:spcPct val="115000"/>
              </a:lnSpc>
              <a:spcAft>
                <a:spcPts val="800"/>
              </a:spcAft>
            </a:pPr>
            <a:r>
              <a:rPr sz="1800" b="1">
                <a:solidFill>
                  <a:srgbClr val="333333"/>
                </a:solidFill>
              </a:rPr>
              <a:t>▪  Desventaja real: ¿cómo conoce el planificador la ráfaga de un proceso ANTES de ejecutarlo?</a:t>
            </a:r>
          </a:p>
        </p:txBody>
      </p:sp>
      <p:sp>
        <p:nvSpPr>
          <p:cNvPr id="7" name="Rounded Rectangle 6"/>
          <p:cNvSpPr/>
          <p:nvPr/>
        </p:nvSpPr>
        <p:spPr>
          <a:xfrm>
            <a:off x="822960" y="3840480"/>
            <a:ext cx="10515600" cy="21945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Respuesta del mundo real</a:t>
            </a:r>
          </a:p>
          <a:p>
            <a:pPr>
              <a:spcBef>
                <a:spcPts val="400"/>
              </a:spcBef>
            </a:pPr>
            <a:r>
              <a:rPr sz="1350">
                <a:solidFill>
                  <a:srgbClr val="333333"/>
                </a:solidFill>
              </a:rPr>
              <a:t>El kernel NO la conoce: la ESTIMA con promedios exponenciales del historial previo del proceso. En el laboratorio simulas con ráfagas conocidas, pero el problema de predicción es la razón de que SJF puro no se use tal cual en sistemas reales.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SRTF — La variante preemptiva de SJF</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9</a:t>
            </a:r>
          </a:p>
        </p:txBody>
      </p:sp>
      <p:sp>
        <p:nvSpPr>
          <p:cNvPr id="6" name="TextBox 5"/>
          <p:cNvSpPr txBox="1"/>
          <p:nvPr/>
        </p:nvSpPr>
        <p:spPr>
          <a:xfrm>
            <a:off x="822960" y="1554480"/>
            <a:ext cx="10515600" cy="1828800"/>
          </a:xfrm>
          <a:prstGeom prst="rect">
            <a:avLst/>
          </a:prstGeom>
          <a:noFill/>
        </p:spPr>
        <p:txBody>
          <a:bodyPr wrap="square">
            <a:spAutoFit/>
          </a:bodyPr>
          <a:lstStyle/>
          <a:p>
            <a:pPr marL="228600" indent="-228600">
              <a:lnSpc>
                <a:spcPct val="115000"/>
              </a:lnSpc>
              <a:spcAft>
                <a:spcPts val="800"/>
              </a:spcAft>
            </a:pPr>
            <a:r>
              <a:rPr sz="1900" b="0">
                <a:solidFill>
                  <a:srgbClr val="333333"/>
                </a:solidFill>
              </a:rPr>
              <a:t>▪  Shortest Remaining Time First (a.k.a. SJF preemptivo).</a:t>
            </a:r>
          </a:p>
          <a:p>
            <a:pPr marL="228600" indent="-228600">
              <a:lnSpc>
                <a:spcPct val="115000"/>
              </a:lnSpc>
              <a:spcAft>
                <a:spcPts val="800"/>
              </a:spcAft>
            </a:pPr>
            <a:r>
              <a:rPr sz="1900" b="0">
                <a:solidFill>
                  <a:srgbClr val="333333"/>
                </a:solidFill>
              </a:rPr>
              <a:t>▪  Si llega un proceso con ráfaga restante MENOR que la del que está corriendo, se PREEMPTA al actual.</a:t>
            </a:r>
          </a:p>
          <a:p>
            <a:pPr marL="228600" indent="-228600">
              <a:lnSpc>
                <a:spcPct val="115000"/>
              </a:lnSpc>
              <a:spcAft>
                <a:spcPts val="800"/>
              </a:spcAft>
            </a:pPr>
            <a:r>
              <a:rPr sz="1900" b="0">
                <a:solidFill>
                  <a:srgbClr val="333333"/>
                </a:solidFill>
              </a:rPr>
              <a:t>▪  Ejemplo: P1 (8) está corriendo; llega P2 (4) → se interrumpe P1 y corre P2.</a:t>
            </a:r>
          </a:p>
          <a:p>
            <a:pPr marL="228600" indent="-228600">
              <a:lnSpc>
                <a:spcPct val="115000"/>
              </a:lnSpc>
              <a:spcAft>
                <a:spcPts val="800"/>
              </a:spcAft>
            </a:pPr>
            <a:r>
              <a:rPr sz="1900" b="0">
                <a:solidFill>
                  <a:srgbClr val="333333"/>
                </a:solidFill>
              </a:rPr>
              <a:t>▪  Teóricamente el mejor promedio de espera... pero con más cambios de contexto (overhead).</a:t>
            </a:r>
          </a:p>
        </p:txBody>
      </p:sp>
      <p:sp>
        <p:nvSpPr>
          <p:cNvPr id="7" name="Rounded Rectangle 6"/>
          <p:cNvSpPr/>
          <p:nvPr/>
        </p:nvSpPr>
        <p:spPr>
          <a:xfrm>
            <a:off x="822960" y="3931920"/>
            <a:ext cx="10515600" cy="237744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Para tu laboratorio</a:t>
            </a:r>
          </a:p>
          <a:p>
            <a:pPr>
              <a:spcBef>
                <a:spcPts val="400"/>
              </a:spcBef>
            </a:pPr>
            <a:r>
              <a:rPr sz="1350">
                <a:solidFill>
                  <a:srgbClr val="333333"/>
                </a:solidFill>
              </a:rPr>
              <a:t>Solo se pide SJF NO preemptivo. Conoce SRTF para el cuestionario: entiende qué ocurre cuando un proceso corto 'desbanca' a uno largo (preempción) y las implicaciones de cambio de contexto.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Round Robin — conceptos</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10</a:t>
            </a:r>
          </a:p>
        </p:txBody>
      </p:sp>
      <p:sp>
        <p:nvSpPr>
          <p:cNvPr id="6" name="TextBox 5"/>
          <p:cNvSpPr txBox="1"/>
          <p:nvPr/>
        </p:nvSpPr>
        <p:spPr>
          <a:xfrm>
            <a:off x="822960" y="1463040"/>
            <a:ext cx="10515600" cy="146304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Recorre la cola cíclicamente repartiendo a cada proceso un QUANTUM (q) de CPU.</a:t>
            </a:r>
          </a:p>
          <a:p>
            <a:pPr marL="228600" indent="-228600">
              <a:lnSpc>
                <a:spcPct val="115000"/>
              </a:lnSpc>
              <a:spcAft>
                <a:spcPts val="800"/>
              </a:spcAft>
            </a:pPr>
            <a:r>
              <a:rPr sz="1800" b="0">
                <a:solidFill>
                  <a:srgbClr val="333333"/>
                </a:solidFill>
              </a:rPr>
              <a:t>▪  Preemptivo: si el proceso no termina en q, se suspende y se re-encola al final.</a:t>
            </a:r>
          </a:p>
          <a:p>
            <a:pPr marL="228600" indent="-228600">
              <a:lnSpc>
                <a:spcPct val="115000"/>
              </a:lnSpc>
              <a:spcAft>
                <a:spcPts val="800"/>
              </a:spcAft>
            </a:pPr>
            <a:r>
              <a:rPr sz="1800" b="0">
                <a:solidFill>
                  <a:srgbClr val="1F3A5F"/>
                </a:solidFill>
              </a:rPr>
              <a:t>▪  Ejemplo con q = 3 sobre el WORKLOAD (los procesos se turnan):</a:t>
            </a:r>
          </a:p>
        </p:txBody>
      </p:sp>
      <p:sp>
        <p:nvSpPr>
          <p:cNvPr id="7" name="TextBox 6"/>
          <p:cNvSpPr txBox="1"/>
          <p:nvPr/>
        </p:nvSpPr>
        <p:spPr>
          <a:xfrm>
            <a:off x="137160" y="3300000"/>
            <a:ext cx="1051560" cy="280000"/>
          </a:xfrm>
          <a:prstGeom prst="rect">
            <a:avLst/>
          </a:prstGeom>
          <a:noFill/>
        </p:spPr>
        <p:txBody>
          <a:bodyPr wrap="none">
            <a:spAutoFit/>
          </a:bodyPr>
          <a:lstStyle/>
          <a:p>
            <a:pPr algn="r"/>
            <a:r>
              <a:rPr sz="1500" b="1">
                <a:solidFill>
                  <a:srgbClr val="1F3A5F"/>
                </a:solidFill>
              </a:rPr>
              <a:t>P1</a:t>
            </a:r>
          </a:p>
        </p:txBody>
      </p:sp>
      <p:sp>
        <p:nvSpPr>
          <p:cNvPr id="8" name="Rectangle 7"/>
          <p:cNvSpPr/>
          <p:nvPr/>
        </p:nvSpPr>
        <p:spPr>
          <a:xfrm>
            <a:off x="1554480" y="3300000"/>
            <a:ext cx="1044526" cy="28000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9" name="Rectangle 8"/>
          <p:cNvSpPr/>
          <p:nvPr/>
        </p:nvSpPr>
        <p:spPr>
          <a:xfrm>
            <a:off x="5732584" y="3300000"/>
            <a:ext cx="1044526" cy="28000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10" name="Rectangle 9"/>
          <p:cNvSpPr/>
          <p:nvPr/>
        </p:nvSpPr>
        <p:spPr>
          <a:xfrm>
            <a:off x="8866163" y="3300000"/>
            <a:ext cx="696350" cy="280000"/>
          </a:xfrm>
          <a:prstGeom prst="rect">
            <a:avLst/>
          </a:prstGeom>
          <a:solidFill>
            <a:srgbClr val="16A0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11" name="TextBox 10"/>
          <p:cNvSpPr txBox="1"/>
          <p:nvPr/>
        </p:nvSpPr>
        <p:spPr>
          <a:xfrm>
            <a:off x="137160" y="3620000"/>
            <a:ext cx="1051560" cy="280000"/>
          </a:xfrm>
          <a:prstGeom prst="rect">
            <a:avLst/>
          </a:prstGeom>
          <a:noFill/>
        </p:spPr>
        <p:txBody>
          <a:bodyPr wrap="none">
            <a:spAutoFit/>
          </a:bodyPr>
          <a:lstStyle/>
          <a:p>
            <a:pPr algn="r"/>
            <a:r>
              <a:rPr sz="1500" b="1">
                <a:solidFill>
                  <a:srgbClr val="1F3A5F"/>
                </a:solidFill>
              </a:rPr>
              <a:t>P2</a:t>
            </a:r>
          </a:p>
        </p:txBody>
      </p:sp>
      <p:sp>
        <p:nvSpPr>
          <p:cNvPr id="12" name="Rectangle 11"/>
          <p:cNvSpPr/>
          <p:nvPr/>
        </p:nvSpPr>
        <p:spPr>
          <a:xfrm>
            <a:off x="2599006" y="3620000"/>
            <a:ext cx="1044526" cy="280000"/>
          </a:xfrm>
          <a:prstGeom prst="rect">
            <a:avLst/>
          </a:prstGeom>
          <a:solidFill>
            <a:srgbClr val="F0931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13" name="Rectangle 12"/>
          <p:cNvSpPr/>
          <p:nvPr/>
        </p:nvSpPr>
        <p:spPr>
          <a:xfrm>
            <a:off x="6777110" y="3620000"/>
            <a:ext cx="348175" cy="280000"/>
          </a:xfrm>
          <a:prstGeom prst="rect">
            <a:avLst/>
          </a:prstGeom>
          <a:solidFill>
            <a:srgbClr val="F0931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14" name="TextBox 13"/>
          <p:cNvSpPr txBox="1"/>
          <p:nvPr/>
        </p:nvSpPr>
        <p:spPr>
          <a:xfrm>
            <a:off x="137160" y="3940000"/>
            <a:ext cx="1051560" cy="280000"/>
          </a:xfrm>
          <a:prstGeom prst="rect">
            <a:avLst/>
          </a:prstGeom>
          <a:noFill/>
        </p:spPr>
        <p:txBody>
          <a:bodyPr wrap="none">
            <a:spAutoFit/>
          </a:bodyPr>
          <a:lstStyle/>
          <a:p>
            <a:pPr algn="r"/>
            <a:r>
              <a:rPr sz="1500" b="1">
                <a:solidFill>
                  <a:srgbClr val="1F3A5F"/>
                </a:solidFill>
              </a:rPr>
              <a:t>P3</a:t>
            </a:r>
          </a:p>
        </p:txBody>
      </p:sp>
      <p:sp>
        <p:nvSpPr>
          <p:cNvPr id="15" name="Rectangle 14"/>
          <p:cNvSpPr/>
          <p:nvPr/>
        </p:nvSpPr>
        <p:spPr>
          <a:xfrm>
            <a:off x="3643532" y="3940000"/>
            <a:ext cx="1044526" cy="280000"/>
          </a:xfrm>
          <a:prstGeom prst="rect">
            <a:avLst/>
          </a:prstGeom>
          <a:solidFill>
            <a:srgbClr val="5B9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16" name="Rectangle 15"/>
          <p:cNvSpPr/>
          <p:nvPr/>
        </p:nvSpPr>
        <p:spPr>
          <a:xfrm>
            <a:off x="7125286" y="3940000"/>
            <a:ext cx="1044526" cy="280000"/>
          </a:xfrm>
          <a:prstGeom prst="rect">
            <a:avLst/>
          </a:prstGeom>
          <a:solidFill>
            <a:srgbClr val="5B9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17" name="Rectangle 16"/>
          <p:cNvSpPr/>
          <p:nvPr/>
        </p:nvSpPr>
        <p:spPr>
          <a:xfrm>
            <a:off x="9562513" y="3940000"/>
            <a:ext cx="1044526" cy="280000"/>
          </a:xfrm>
          <a:prstGeom prst="rect">
            <a:avLst/>
          </a:prstGeom>
          <a:solidFill>
            <a:srgbClr val="5B9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18" name="TextBox 17"/>
          <p:cNvSpPr txBox="1"/>
          <p:nvPr/>
        </p:nvSpPr>
        <p:spPr>
          <a:xfrm>
            <a:off x="137160" y="4260000"/>
            <a:ext cx="1051560" cy="280000"/>
          </a:xfrm>
          <a:prstGeom prst="rect">
            <a:avLst/>
          </a:prstGeom>
          <a:noFill/>
        </p:spPr>
        <p:txBody>
          <a:bodyPr wrap="none">
            <a:spAutoFit/>
          </a:bodyPr>
          <a:lstStyle/>
          <a:p>
            <a:pPr algn="r"/>
            <a:r>
              <a:rPr sz="1500" b="1">
                <a:solidFill>
                  <a:srgbClr val="1F3A5F"/>
                </a:solidFill>
              </a:rPr>
              <a:t>P4</a:t>
            </a:r>
          </a:p>
        </p:txBody>
      </p:sp>
      <p:sp>
        <p:nvSpPr>
          <p:cNvPr id="19" name="Rectangle 18"/>
          <p:cNvSpPr/>
          <p:nvPr/>
        </p:nvSpPr>
        <p:spPr>
          <a:xfrm>
            <a:off x="4688058" y="4260000"/>
            <a:ext cx="1044526" cy="280000"/>
          </a:xfrm>
          <a:prstGeom prst="rect">
            <a:avLst/>
          </a:prstGeom>
          <a:solidFill>
            <a:srgbClr val="9B59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20" name="Rectangle 19"/>
          <p:cNvSpPr/>
          <p:nvPr/>
        </p:nvSpPr>
        <p:spPr>
          <a:xfrm>
            <a:off x="8169812" y="4260000"/>
            <a:ext cx="696350" cy="280000"/>
          </a:xfrm>
          <a:prstGeom prst="rect">
            <a:avLst/>
          </a:prstGeom>
          <a:solidFill>
            <a:srgbClr val="9B59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21" name="TextBox 20"/>
          <p:cNvSpPr txBox="1"/>
          <p:nvPr/>
        </p:nvSpPr>
        <p:spPr>
          <a:xfrm>
            <a:off x="3021036" y="4630000"/>
            <a:ext cx="548640" cy="274320"/>
          </a:xfrm>
          <a:prstGeom prst="rect">
            <a:avLst/>
          </a:prstGeom>
          <a:noFill/>
        </p:spPr>
        <p:txBody>
          <a:bodyPr wrap="none">
            <a:spAutoFit/>
          </a:bodyPr>
          <a:lstStyle/>
          <a:p>
            <a:pPr algn="ctr"/>
            <a:r>
              <a:rPr sz="1200">
                <a:solidFill>
                  <a:srgbClr val="8A8A8A"/>
                </a:solidFill>
              </a:rPr>
              <a:t>5</a:t>
            </a:r>
          </a:p>
        </p:txBody>
      </p:sp>
      <p:sp>
        <p:nvSpPr>
          <p:cNvPr id="22" name="TextBox 21"/>
          <p:cNvSpPr txBox="1"/>
          <p:nvPr/>
        </p:nvSpPr>
        <p:spPr>
          <a:xfrm>
            <a:off x="4761913" y="4630000"/>
            <a:ext cx="548640" cy="274320"/>
          </a:xfrm>
          <a:prstGeom prst="rect">
            <a:avLst/>
          </a:prstGeom>
          <a:noFill/>
        </p:spPr>
        <p:txBody>
          <a:bodyPr wrap="none">
            <a:spAutoFit/>
          </a:bodyPr>
          <a:lstStyle/>
          <a:p>
            <a:pPr algn="ctr"/>
            <a:r>
              <a:rPr sz="1200">
                <a:solidFill>
                  <a:srgbClr val="8A8A8A"/>
                </a:solidFill>
              </a:rPr>
              <a:t>10</a:t>
            </a:r>
          </a:p>
        </p:txBody>
      </p:sp>
      <p:sp>
        <p:nvSpPr>
          <p:cNvPr id="23" name="TextBox 22"/>
          <p:cNvSpPr txBox="1"/>
          <p:nvPr/>
        </p:nvSpPr>
        <p:spPr>
          <a:xfrm>
            <a:off x="6502790" y="4630000"/>
            <a:ext cx="548640" cy="274320"/>
          </a:xfrm>
          <a:prstGeom prst="rect">
            <a:avLst/>
          </a:prstGeom>
          <a:noFill/>
        </p:spPr>
        <p:txBody>
          <a:bodyPr wrap="none">
            <a:spAutoFit/>
          </a:bodyPr>
          <a:lstStyle/>
          <a:p>
            <a:pPr algn="ctr"/>
            <a:r>
              <a:rPr sz="1200">
                <a:solidFill>
                  <a:srgbClr val="8A8A8A"/>
                </a:solidFill>
              </a:rPr>
              <a:t>15</a:t>
            </a:r>
          </a:p>
        </p:txBody>
      </p:sp>
      <p:sp>
        <p:nvSpPr>
          <p:cNvPr id="24" name="TextBox 23"/>
          <p:cNvSpPr txBox="1"/>
          <p:nvPr/>
        </p:nvSpPr>
        <p:spPr>
          <a:xfrm>
            <a:off x="8243667" y="4630000"/>
            <a:ext cx="548640" cy="274320"/>
          </a:xfrm>
          <a:prstGeom prst="rect">
            <a:avLst/>
          </a:prstGeom>
          <a:noFill/>
        </p:spPr>
        <p:txBody>
          <a:bodyPr wrap="none">
            <a:spAutoFit/>
          </a:bodyPr>
          <a:lstStyle/>
          <a:p>
            <a:pPr algn="ctr"/>
            <a:r>
              <a:rPr sz="1200">
                <a:solidFill>
                  <a:srgbClr val="8A8A8A"/>
                </a:solidFill>
              </a:rPr>
              <a:t>20</a:t>
            </a:r>
          </a:p>
        </p:txBody>
      </p:sp>
      <p:sp>
        <p:nvSpPr>
          <p:cNvPr id="25" name="TextBox 24"/>
          <p:cNvSpPr txBox="1"/>
          <p:nvPr/>
        </p:nvSpPr>
        <p:spPr>
          <a:xfrm>
            <a:off x="9984544" y="4630000"/>
            <a:ext cx="548640" cy="274320"/>
          </a:xfrm>
          <a:prstGeom prst="rect">
            <a:avLst/>
          </a:prstGeom>
          <a:noFill/>
        </p:spPr>
        <p:txBody>
          <a:bodyPr wrap="none">
            <a:spAutoFit/>
          </a:bodyPr>
          <a:lstStyle/>
          <a:p>
            <a:pPr algn="ctr"/>
            <a:r>
              <a:rPr sz="1200">
                <a:solidFill>
                  <a:srgbClr val="8A8A8A"/>
                </a:solidFill>
              </a:rPr>
              <a:t>25</a:t>
            </a:r>
          </a:p>
        </p:txBody>
      </p:sp>
      <p:sp>
        <p:nvSpPr>
          <p:cNvPr id="26" name="Rounded Rectangle 25"/>
          <p:cNvSpPr/>
          <p:nvPr/>
        </p:nvSpPr>
        <p:spPr>
          <a:xfrm>
            <a:off x="822960" y="5029200"/>
            <a:ext cx="10515600" cy="137160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Resultado</a:t>
            </a:r>
          </a:p>
          <a:p>
            <a:pPr>
              <a:spcBef>
                <a:spcPts val="400"/>
              </a:spcBef>
            </a:pPr>
            <a:r>
              <a:rPr sz="1350">
                <a:solidFill>
                  <a:srgbClr val="333333"/>
                </a:solidFill>
              </a:rPr>
              <a:t>Espera: P1=15, P2=11, P3=15, P4=13 → promedio 13.50   ·   Retorno: P1=23, P2=15, P3=24, P4=18 → promedio 20.00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El quantum: pequeño vs grande</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11</a:t>
            </a:r>
          </a:p>
        </p:txBody>
      </p:sp>
      <p:sp>
        <p:nvSpPr>
          <p:cNvPr id="6" name="Rounded Rectangle 5"/>
          <p:cNvSpPr/>
          <p:nvPr/>
        </p:nvSpPr>
        <p:spPr>
          <a:xfrm>
            <a:off x="822960" y="1554480"/>
            <a:ext cx="5120640" cy="31089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Quantum pequeño (q=1)</a:t>
            </a:r>
          </a:p>
          <a:p>
            <a:pPr>
              <a:spcBef>
                <a:spcPts val="400"/>
              </a:spcBef>
            </a:pPr>
            <a:r>
              <a:rPr sz="1350">
                <a:solidFill>
                  <a:srgbClr val="333333"/>
                </a:solidFill>
              </a:rPr>
              <a:t>Máxima equidad y mejor tiempo de respuesta para procesos interactivos.</a:t>
            </a:r>
            <a:br/>
            <a:br/>
            <a:r>
              <a:rPr sz="1350" b="1">
                <a:solidFill>
                  <a:srgbClr val="1F3A5F"/>
                </a:solidFill>
              </a:rPr>
              <a:t>PERO: el cambio de contexto (guardar/restaurar el proceso) consume tiempo de CPU real → overhead enorme si q es del orden del costo del cambio.</a:t>
            </a:r>
          </a:p>
        </p:txBody>
      </p:sp>
      <p:sp>
        <p:nvSpPr>
          <p:cNvPr id="7" name="Rounded Rectangle 6"/>
          <p:cNvSpPr/>
          <p:nvPr/>
        </p:nvSpPr>
        <p:spPr>
          <a:xfrm>
            <a:off x="6217920" y="1554480"/>
            <a:ext cx="5120640" cy="31089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Quantum grande (q→∞)</a:t>
            </a:r>
          </a:p>
          <a:p>
            <a:pPr>
              <a:spcBef>
                <a:spcPts val="400"/>
              </a:spcBef>
            </a:pPr>
            <a:r>
              <a:rPr sz="1350">
                <a:solidFill>
                  <a:srgbClr val="333333"/>
                </a:solidFill>
              </a:rPr>
              <a:t>Cada proceso corre casi hasta terminar antes de ser interrumpido.</a:t>
            </a:r>
            <a:br/>
            <a:br/>
            <a:r>
              <a:rPr sz="1350" b="1">
                <a:solidFill>
                  <a:srgbClr val="1F3A5F"/>
                </a:solidFill>
              </a:rPr>
              <a:t>Efecto: RR degenera en FCFS (el orden de llegada vuelve a mandar). Pierde la equidad de tiempo real.</a:t>
            </a:r>
          </a:p>
        </p:txBody>
      </p:sp>
      <p:sp>
        <p:nvSpPr>
          <p:cNvPr id="8" name="TextBox 7"/>
          <p:cNvSpPr txBox="1"/>
          <p:nvPr/>
        </p:nvSpPr>
        <p:spPr>
          <a:xfrm>
            <a:off x="822960" y="4846320"/>
            <a:ext cx="10515600" cy="1463040"/>
          </a:xfrm>
          <a:prstGeom prst="rect">
            <a:avLst/>
          </a:prstGeom>
          <a:noFill/>
        </p:spPr>
        <p:txBody>
          <a:bodyPr wrap="square">
            <a:spAutoFit/>
          </a:bodyPr>
          <a:lstStyle/>
          <a:p>
            <a:pPr marL="228600" indent="-228600">
              <a:lnSpc>
                <a:spcPct val="115000"/>
              </a:lnSpc>
              <a:spcAft>
                <a:spcPts val="800"/>
              </a:spcAft>
            </a:pPr>
            <a:r>
              <a:rPr sz="1800" b="0">
                <a:solidFill>
                  <a:srgbClr val="333333"/>
                </a:solidFill>
              </a:rPr>
              <a:t>▪  El quantum 'ideal' debe ser &gt;&gt; costo de un cambio de contexto, pero &lt;&lt; ráfaga típica.</a:t>
            </a:r>
          </a:p>
          <a:p>
            <a:pPr marL="228600" indent="-228600">
              <a:lnSpc>
                <a:spcPct val="115000"/>
              </a:lnSpc>
              <a:spcAft>
                <a:spcPts val="800"/>
              </a:spcAft>
            </a:pPr>
            <a:r>
              <a:rPr sz="1800" b="1">
                <a:solidFill>
                  <a:srgbClr val="333333"/>
                </a:solidFill>
              </a:rPr>
              <a:t>▪  Prueba en el laboratorio q = 1, 3, 5 y 100. Con q=100 observarás que RR ≈ FCFS.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Comparación de los tres algoritmos</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12</a:t>
            </a:r>
          </a:p>
        </p:txBody>
      </p:sp>
      <p:graphicFrame>
        <p:nvGraphicFramePr>
          <p:cNvPr id="6" name="Table 5"/>
          <p:cNvGraphicFramePr>
            <a:graphicFrameLocks noGrp="1"/>
          </p:cNvGraphicFramePr>
          <p:nvPr/>
        </p:nvGraphicFramePr>
        <p:xfrm>
          <a:off x="822960" y="1554480"/>
          <a:ext cx="10515600" cy="1463040"/>
        </p:xfrm>
        <a:graphic>
          <a:graphicData uri="http://schemas.openxmlformats.org/drawingml/2006/table">
            <a:tbl>
              <a:tblPr firstRow="1" bandRow="1">
                <a:tableStyleId>{5C22544A-7EE6-4342-B048-85BDC9FD1C3A}</a:tableStyleId>
              </a:tblPr>
              <a:tblGrid>
                <a:gridCol w="3108960"/>
                <a:gridCol w="2011680"/>
                <a:gridCol w="2011680"/>
                <a:gridCol w="3383280"/>
              </a:tblGrid>
              <a:tr h="365760">
                <a:tc>
                  <a:txBody>
                    <a:bodyPr wrap="square"/>
                    <a:lstStyle/>
                    <a:p>
                      <a:r>
                        <a:rPr sz="1400" b="1">
                          <a:solidFill>
                            <a:srgbClr val="FFFFFF"/>
                          </a:solidFill>
                        </a:rPr>
                        <a:t>Algoritmo</a:t>
                      </a:r>
                    </a:p>
                  </a:txBody>
                  <a:tcPr marL="73152" marR="73152">
                    <a:solidFill>
                      <a:srgbClr val="1F3A5F"/>
                    </a:solidFill>
                  </a:tcPr>
                </a:tc>
                <a:tc>
                  <a:txBody>
                    <a:bodyPr wrap="square"/>
                    <a:lstStyle/>
                    <a:p>
                      <a:r>
                        <a:rPr sz="1400" b="1">
                          <a:solidFill>
                            <a:srgbClr val="FFFFFF"/>
                          </a:solidFill>
                        </a:rPr>
                        <a:t>Espera prom.</a:t>
                      </a:r>
                    </a:p>
                  </a:txBody>
                  <a:tcPr marL="73152" marR="73152">
                    <a:solidFill>
                      <a:srgbClr val="1F3A5F"/>
                    </a:solidFill>
                  </a:tcPr>
                </a:tc>
                <a:tc>
                  <a:txBody>
                    <a:bodyPr wrap="square"/>
                    <a:lstStyle/>
                    <a:p>
                      <a:r>
                        <a:rPr sz="1400" b="1">
                          <a:solidFill>
                            <a:srgbClr val="FFFFFF"/>
                          </a:solidFill>
                        </a:rPr>
                        <a:t>Retorno prom.</a:t>
                      </a:r>
                    </a:p>
                  </a:txBody>
                  <a:tcPr marL="73152" marR="73152">
                    <a:solidFill>
                      <a:srgbClr val="1F3A5F"/>
                    </a:solidFill>
                  </a:tcPr>
                </a:tc>
                <a:tc>
                  <a:txBody>
                    <a:bodyPr wrap="square"/>
                    <a:lstStyle/>
                    <a:p>
                      <a:r>
                        <a:rPr sz="1400" b="1">
                          <a:solidFill>
                            <a:srgbClr val="FFFFFF"/>
                          </a:solidFill>
                        </a:rPr>
                        <a:t>Filosofía</a:t>
                      </a:r>
                    </a:p>
                  </a:txBody>
                  <a:tcPr marL="73152" marR="73152">
                    <a:solidFill>
                      <a:srgbClr val="1F3A5F"/>
                    </a:solidFill>
                  </a:tcPr>
                </a:tc>
              </a:tr>
              <a:tr h="365760">
                <a:tc>
                  <a:txBody>
                    <a:bodyPr wrap="square"/>
                    <a:lstStyle/>
                    <a:p>
                      <a:r>
                        <a:rPr sz="1400">
                          <a:solidFill>
                            <a:srgbClr val="333333"/>
                          </a:solidFill>
                        </a:rPr>
                        <a:t>FCFS</a:t>
                      </a:r>
                    </a:p>
                  </a:txBody>
                  <a:tcPr marL="73152" marR="73152">
                    <a:solidFill>
                      <a:srgbClr val="FFFFFF"/>
                    </a:solidFill>
                  </a:tcPr>
                </a:tc>
                <a:tc>
                  <a:txBody>
                    <a:bodyPr wrap="square"/>
                    <a:lstStyle/>
                    <a:p>
                      <a:r>
                        <a:rPr sz="1400">
                          <a:solidFill>
                            <a:srgbClr val="333333"/>
                          </a:solidFill>
                        </a:rPr>
                        <a:t>8.75</a:t>
                      </a:r>
                    </a:p>
                  </a:txBody>
                  <a:tcPr marL="73152" marR="73152">
                    <a:solidFill>
                      <a:srgbClr val="FFFFFF"/>
                    </a:solidFill>
                  </a:tcPr>
                </a:tc>
                <a:tc>
                  <a:txBody>
                    <a:bodyPr wrap="square"/>
                    <a:lstStyle/>
                    <a:p>
                      <a:r>
                        <a:rPr sz="1400">
                          <a:solidFill>
                            <a:srgbClr val="333333"/>
                          </a:solidFill>
                        </a:rPr>
                        <a:t>15.25</a:t>
                      </a:r>
                    </a:p>
                  </a:txBody>
                  <a:tcPr marL="73152" marR="73152">
                    <a:solidFill>
                      <a:srgbClr val="FFFFFF"/>
                    </a:solidFill>
                  </a:tcPr>
                </a:tc>
                <a:tc>
                  <a:txBody>
                    <a:bodyPr wrap="square"/>
                    <a:lstStyle/>
                    <a:p>
                      <a:r>
                        <a:rPr sz="1400">
                          <a:solidFill>
                            <a:srgbClr val="333333"/>
                          </a:solidFill>
                        </a:rPr>
                        <a:t>Orden de llegada · simple, convoy</a:t>
                      </a:r>
                    </a:p>
                  </a:txBody>
                  <a:tcPr marL="73152" marR="73152">
                    <a:solidFill>
                      <a:srgbClr val="FFFFFF"/>
                    </a:solidFill>
                  </a:tcPr>
                </a:tc>
              </a:tr>
              <a:tr h="365760">
                <a:tc>
                  <a:txBody>
                    <a:bodyPr wrap="square"/>
                    <a:lstStyle/>
                    <a:p>
                      <a:r>
                        <a:rPr sz="1400">
                          <a:solidFill>
                            <a:srgbClr val="333333"/>
                          </a:solidFill>
                        </a:rPr>
                        <a:t>SJF</a:t>
                      </a:r>
                    </a:p>
                  </a:txBody>
                  <a:tcPr marL="73152" marR="73152">
                    <a:solidFill>
                      <a:srgbClr val="ECF3F9"/>
                    </a:solidFill>
                  </a:tcPr>
                </a:tc>
                <a:tc>
                  <a:txBody>
                    <a:bodyPr wrap="square"/>
                    <a:lstStyle/>
                    <a:p>
                      <a:r>
                        <a:rPr sz="1400">
                          <a:solidFill>
                            <a:srgbClr val="333333"/>
                          </a:solidFill>
                        </a:rPr>
                        <a:t>7.75</a:t>
                      </a:r>
                    </a:p>
                  </a:txBody>
                  <a:tcPr marL="73152" marR="73152">
                    <a:solidFill>
                      <a:srgbClr val="ECF3F9"/>
                    </a:solidFill>
                  </a:tcPr>
                </a:tc>
                <a:tc>
                  <a:txBody>
                    <a:bodyPr wrap="square"/>
                    <a:lstStyle/>
                    <a:p>
                      <a:r>
                        <a:rPr sz="1400">
                          <a:solidFill>
                            <a:srgbClr val="333333"/>
                          </a:solidFill>
                        </a:rPr>
                        <a:t>14.25</a:t>
                      </a:r>
                    </a:p>
                  </a:txBody>
                  <a:tcPr marL="73152" marR="73152">
                    <a:solidFill>
                      <a:srgbClr val="ECF3F9"/>
                    </a:solidFill>
                  </a:tcPr>
                </a:tc>
                <a:tc>
                  <a:txBody>
                    <a:bodyPr wrap="square"/>
                    <a:lstStyle/>
                    <a:p>
                      <a:r>
                        <a:rPr sz="1400">
                          <a:solidFill>
                            <a:srgbClr val="333333"/>
                          </a:solidFill>
                        </a:rPr>
                        <a:t>Corta la cola, óptimo en espera</a:t>
                      </a:r>
                    </a:p>
                  </a:txBody>
                  <a:tcPr marL="73152" marR="73152">
                    <a:solidFill>
                      <a:srgbClr val="ECF3F9"/>
                    </a:solidFill>
                  </a:tcPr>
                </a:tc>
              </a:tr>
              <a:tr h="365760">
                <a:tc>
                  <a:txBody>
                    <a:bodyPr wrap="square"/>
                    <a:lstStyle/>
                    <a:p>
                      <a:r>
                        <a:rPr sz="1400">
                          <a:solidFill>
                            <a:srgbClr val="333333"/>
                          </a:solidFill>
                        </a:rPr>
                        <a:t>Round Robin (q=3)</a:t>
                      </a:r>
                    </a:p>
                  </a:txBody>
                  <a:tcPr marL="73152" marR="73152">
                    <a:solidFill>
                      <a:srgbClr val="FFFFFF"/>
                    </a:solidFill>
                  </a:tcPr>
                </a:tc>
                <a:tc>
                  <a:txBody>
                    <a:bodyPr wrap="square"/>
                    <a:lstStyle/>
                    <a:p>
                      <a:r>
                        <a:rPr sz="1400">
                          <a:solidFill>
                            <a:srgbClr val="333333"/>
                          </a:solidFill>
                        </a:rPr>
                        <a:t>13.50</a:t>
                      </a:r>
                    </a:p>
                  </a:txBody>
                  <a:tcPr marL="73152" marR="73152">
                    <a:solidFill>
                      <a:srgbClr val="FFFFFF"/>
                    </a:solidFill>
                  </a:tcPr>
                </a:tc>
                <a:tc>
                  <a:txBody>
                    <a:bodyPr wrap="square"/>
                    <a:lstStyle/>
                    <a:p>
                      <a:r>
                        <a:rPr sz="1400">
                          <a:solidFill>
                            <a:srgbClr val="333333"/>
                          </a:solidFill>
                        </a:rPr>
                        <a:t>20.00</a:t>
                      </a:r>
                    </a:p>
                  </a:txBody>
                  <a:tcPr marL="73152" marR="73152">
                    <a:solidFill>
                      <a:srgbClr val="FFFFFF"/>
                    </a:solidFill>
                  </a:tcPr>
                </a:tc>
                <a:tc>
                  <a:txBody>
                    <a:bodyPr wrap="square"/>
                    <a:lstStyle/>
                    <a:p>
                      <a:r>
                        <a:rPr sz="1400">
                          <a:solidFill>
                            <a:srgbClr val="333333"/>
                          </a:solidFill>
                        </a:rPr>
                        <a:t>Equitativo · peor promedio aquí</a:t>
                      </a:r>
                    </a:p>
                  </a:txBody>
                  <a:tcPr marL="73152" marR="73152">
                    <a:solidFill>
                      <a:srgbClr val="FFFFFF"/>
                    </a:solidFill>
                  </a:tcPr>
                </a:tc>
              </a:tr>
            </a:tbl>
          </a:graphicData>
        </a:graphic>
      </p:graphicFrame>
      <p:sp>
        <p:nvSpPr>
          <p:cNvPr id="7" name="Rounded Rectangle 6"/>
          <p:cNvSpPr/>
          <p:nvPr/>
        </p:nvSpPr>
        <p:spPr>
          <a:xfrm>
            <a:off x="822960" y="4023360"/>
            <a:ext cx="10515600" cy="21945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Lectura de resultados</a:t>
            </a:r>
          </a:p>
          <a:p>
            <a:pPr>
              <a:spcBef>
                <a:spcPts val="400"/>
              </a:spcBef>
            </a:pPr>
            <a:r>
              <a:rPr sz="1350">
                <a:solidFill>
                  <a:srgbClr val="333333"/>
                </a:solidFill>
              </a:rPr>
              <a:t>Para ESTE carga, SJF gana en ambos promedios. RR reparte equidad pero paga más espera total. FCFS es intermedio y simple. La elección depende del objetivo del sistema: batch (menos retorno) vs interactivo (menos respuesta).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CFS de Linux vs los algoritmos de libro</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13</a:t>
            </a:r>
          </a:p>
        </p:txBody>
      </p:sp>
      <p:sp>
        <p:nvSpPr>
          <p:cNvPr id="6" name="TextBox 5"/>
          <p:cNvSpPr txBox="1"/>
          <p:nvPr/>
        </p:nvSpPr>
        <p:spPr>
          <a:xfrm>
            <a:off x="822960" y="1554480"/>
            <a:ext cx="10515600" cy="1920240"/>
          </a:xfrm>
          <a:prstGeom prst="rect">
            <a:avLst/>
          </a:prstGeom>
          <a:noFill/>
        </p:spPr>
        <p:txBody>
          <a:bodyPr wrap="square">
            <a:spAutoFit/>
          </a:bodyPr>
          <a:lstStyle/>
          <a:p>
            <a:pPr marL="228600" indent="-228600">
              <a:lnSpc>
                <a:spcPct val="115000"/>
              </a:lnSpc>
              <a:spcAft>
                <a:spcPts val="800"/>
              </a:spcAft>
            </a:pPr>
            <a:r>
              <a:rPr sz="1900" b="0">
                <a:solidFill>
                  <a:srgbClr val="333333"/>
                </a:solidFill>
              </a:rPr>
              <a:t>▪  FCFS/SJF/RR son modelos clásicos que presuponen ráfagas conocidas y una sola cola.</a:t>
            </a:r>
          </a:p>
          <a:p>
            <a:pPr marL="228600" indent="-228600">
              <a:lnSpc>
                <a:spcPct val="115000"/>
              </a:lnSpc>
              <a:spcAft>
                <a:spcPts val="800"/>
              </a:spcAft>
            </a:pPr>
            <a:r>
              <a:rPr sz="1900" b="0">
                <a:solidFill>
                  <a:srgbClr val="333333"/>
                </a:solidFill>
              </a:rPr>
              <a:t>▪  CFS es 'fair': reparte CPU según vruntime, sin etiquetas rígidas de prioridad.</a:t>
            </a:r>
          </a:p>
          <a:p>
            <a:pPr marL="228600" indent="-228600">
              <a:lnSpc>
                <a:spcPct val="115000"/>
              </a:lnSpc>
              <a:spcAft>
                <a:spcPts val="800"/>
              </a:spcAft>
            </a:pPr>
            <a:r>
              <a:rPr sz="1900" b="0">
                <a:solidFill>
                  <a:srgbClr val="333333"/>
                </a:solidFill>
              </a:rPr>
              <a:t>▪  CFS incorpora interactividad, balanceo multi-núcleo y estimación de ráfagas de forma continua.</a:t>
            </a:r>
          </a:p>
          <a:p>
            <a:pPr marL="228600" indent="-228600">
              <a:lnSpc>
                <a:spcPct val="115000"/>
              </a:lnSpc>
              <a:spcAft>
                <a:spcPts val="800"/>
              </a:spcAft>
            </a:pPr>
            <a:r>
              <a:rPr sz="1900" b="1">
                <a:solidFill>
                  <a:srgbClr val="333333"/>
                </a:solidFill>
              </a:rPr>
              <a:t>▪  Por eso en la Parte A usaste herramientas REALES, y en la Parte B SIMULAS los algoritmos teóricos.</a:t>
            </a:r>
          </a:p>
        </p:txBody>
      </p:sp>
      <p:sp>
        <p:nvSpPr>
          <p:cNvPr id="7" name="Rounded Rectangle 6"/>
          <p:cNvSpPr/>
          <p:nvPr/>
        </p:nvSpPr>
        <p:spPr>
          <a:xfrm>
            <a:off x="822960" y="3931920"/>
            <a:ext cx="10515600" cy="21945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Conclusión del laboratorio</a:t>
            </a:r>
          </a:p>
          <a:p>
            <a:pPr>
              <a:spcBef>
                <a:spcPts val="400"/>
              </a:spcBef>
            </a:pPr>
            <a:r>
              <a:rPr sz="1350">
                <a:solidFill>
                  <a:srgbClr val="333333"/>
                </a:solidFill>
              </a:rPr>
              <a:t>La teoría da criterios y matemáticas (espera/retorno); el Linux real añade la complejidad de no conocer el futuro. Saber ambos lados te permite decidir con datos y justificar con fundamento.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6200"/>
          </a:xfrm>
          <a:prstGeom prst="rect">
            <a:avLst/>
          </a:prstGeom>
          <a:solidFill>
            <a:srgbClr val="F09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
            <a:ext cx="10789920" cy="777240"/>
          </a:xfrm>
          <a:prstGeom prst="rect">
            <a:avLst/>
          </a:prstGeom>
          <a:noFill/>
        </p:spPr>
        <p:txBody>
          <a:bodyPr wrap="square">
            <a:spAutoFit/>
          </a:bodyPr>
          <a:lstStyle/>
          <a:p>
            <a:r>
              <a:rPr sz="2800" b="1">
                <a:solidFill>
                  <a:srgbClr val="FFFFFF"/>
                </a:solidFill>
              </a:rPr>
              <a:t>Tu actividad en el laboratorio 3B</a:t>
            </a:r>
          </a:p>
        </p:txBody>
      </p:sp>
      <p:sp>
        <p:nvSpPr>
          <p:cNvPr id="5" name="TextBox 4"/>
          <p:cNvSpPr txBox="1"/>
          <p:nvPr/>
        </p:nvSpPr>
        <p:spPr>
          <a:xfrm>
            <a:off x="11201400" y="6419088"/>
            <a:ext cx="822960" cy="365760"/>
          </a:xfrm>
          <a:prstGeom prst="rect">
            <a:avLst/>
          </a:prstGeom>
          <a:noFill/>
        </p:spPr>
        <p:txBody>
          <a:bodyPr wrap="none">
            <a:spAutoFit/>
          </a:bodyPr>
          <a:lstStyle/>
          <a:p>
            <a:r>
              <a:rPr sz="1200">
                <a:solidFill>
                  <a:srgbClr val="8A8A8A"/>
                </a:solidFill>
              </a:rPr>
              <a:t>14</a:t>
            </a:r>
          </a:p>
        </p:txBody>
      </p:sp>
      <p:sp>
        <p:nvSpPr>
          <p:cNvPr id="6" name="TextBox 5"/>
          <p:cNvSpPr txBox="1"/>
          <p:nvPr/>
        </p:nvSpPr>
        <p:spPr>
          <a:xfrm>
            <a:off x="822960" y="1554480"/>
            <a:ext cx="10515600" cy="2194560"/>
          </a:xfrm>
          <a:prstGeom prst="rect">
            <a:avLst/>
          </a:prstGeom>
          <a:noFill/>
        </p:spPr>
        <p:txBody>
          <a:bodyPr wrap="square">
            <a:spAutoFit/>
          </a:bodyPr>
          <a:lstStyle/>
          <a:p>
            <a:pPr marL="228600" indent="-228600">
              <a:lnSpc>
                <a:spcPct val="115000"/>
              </a:lnSpc>
              <a:spcAft>
                <a:spcPts val="800"/>
              </a:spcAft>
            </a:pPr>
            <a:r>
              <a:rPr sz="1900" b="0">
                <a:solidFill>
                  <a:srgbClr val="333333"/>
                </a:solidFill>
              </a:rPr>
              <a:t>▪  Ejecuta scheduler_sim.py base y nota que FCFS y SJF dan IDÉNTICO (bug a corregir).</a:t>
            </a:r>
          </a:p>
          <a:p>
            <a:pPr marL="228600" indent="-228600">
              <a:lnSpc>
                <a:spcPct val="115000"/>
              </a:lnSpc>
              <a:spcAft>
                <a:spcPts val="800"/>
              </a:spcAft>
            </a:pPr>
            <a:r>
              <a:rPr sz="1900" b="0">
                <a:solidFill>
                  <a:srgbClr val="333333"/>
                </a:solidFill>
              </a:rPr>
              <a:t>▪  Corrige sjf(): elige el menor ráfaga entre los ya llegados. Verifica a mano el timeline.</a:t>
            </a:r>
          </a:p>
          <a:p>
            <a:pPr marL="228600" indent="-228600">
              <a:lnSpc>
                <a:spcPct val="115000"/>
              </a:lnSpc>
              <a:spcAft>
                <a:spcPts val="800"/>
              </a:spcAft>
            </a:pPr>
            <a:r>
              <a:rPr sz="1900" b="0">
                <a:solidFill>
                  <a:srgbClr val="333333"/>
                </a:solidFill>
              </a:rPr>
              <a:t>▪  Prueba RR con q = 1, 3, 5, 100 y observa cómo converge a FCFS.</a:t>
            </a:r>
          </a:p>
          <a:p>
            <a:pPr marL="228600" indent="-228600">
              <a:lnSpc>
                <a:spcPct val="115000"/>
              </a:lnSpc>
              <a:spcAft>
                <a:spcPts val="800"/>
              </a:spcAft>
            </a:pPr>
            <a:r>
              <a:rPr sz="1900" b="0">
                <a:solidFill>
                  <a:srgbClr val="333333"/>
                </a:solidFill>
              </a:rPr>
              <a:t>▪  Completa la tabla comparativa y escribe el informe para la gerencia de NovaTech.</a:t>
            </a:r>
          </a:p>
          <a:p>
            <a:pPr marL="228600" indent="-228600">
              <a:lnSpc>
                <a:spcPct val="115000"/>
              </a:lnSpc>
              <a:spcAft>
                <a:spcPts val="800"/>
              </a:spcAft>
            </a:pPr>
            <a:r>
              <a:rPr sz="1900" b="0">
                <a:solidFill>
                  <a:srgbClr val="333333"/>
                </a:solidFill>
              </a:rPr>
              <a:t>▪  Responde las 5 preguntas del cuestionario con tus palabras.</a:t>
            </a:r>
          </a:p>
        </p:txBody>
      </p:sp>
      <p:sp>
        <p:nvSpPr>
          <p:cNvPr id="7" name="Rounded Rectangle 6"/>
          <p:cNvSpPr/>
          <p:nvPr/>
        </p:nvSpPr>
        <p:spPr>
          <a:xfrm>
            <a:off x="822960" y="4937760"/>
            <a:ext cx="10515600" cy="1280160"/>
          </a:xfrm>
          <a:prstGeom prst="roundRect">
            <a:avLst/>
          </a:prstGeom>
          <a:solidFill>
            <a:srgbClr val="ECF3F9"/>
          </a:solidFill>
          <a:ln w="15875">
            <a:solidFill>
              <a:srgbClr val="F0931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1F3A5F"/>
                </a:solidFill>
              </a:rPr>
              <a:t>Entrega</a:t>
            </a:r>
          </a:p>
          <a:p>
            <a:pPr>
              <a:spcBef>
                <a:spcPts val="400"/>
              </a:spcBef>
            </a:pPr>
            <a:r>
              <a:rPr sz="1350">
                <a:solidFill>
                  <a:srgbClr val="333333"/>
                </a:solidFill>
              </a:rPr>
              <a:t>Código scheduler_sim.py corregido + PDF con análisis, tablas y cuestionario (Apellido_Nombre_Lab3.pdf y .py).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Sistemas Operativos - Laboratorio</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